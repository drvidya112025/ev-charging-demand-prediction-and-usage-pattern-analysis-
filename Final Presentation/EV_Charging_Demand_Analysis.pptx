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B7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B7A"/>
                </a:solidFill>
                <a:latin typeface="Calibri"/>
              </a:rPr>
              <a:t>R² on the 20% hold-out set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(test)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XGBoost</c:v>
                </c:pt>
                <c:pt idx="1">
                  <c:v>LightGBM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Decision Tree</c:v>
                </c:pt>
                <c:pt idx="5">
                  <c:v>Linear Regression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0.81100000000000005</c:v>
                </c:pt>
                <c:pt idx="1">
                  <c:v>0.81</c:v>
                </c:pt>
                <c:pt idx="2">
                  <c:v>0.80500000000000005</c:v>
                </c:pt>
                <c:pt idx="3">
                  <c:v>0.79200000000000004</c:v>
                </c:pt>
                <c:pt idx="4">
                  <c:v>0.78300000000000003</c:v>
                </c:pt>
                <c:pt idx="5">
                  <c:v>0.60599999999999998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E-46B3-BED5-36B68585C4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B7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B7A"/>
                </a:solidFill>
                <a:latin typeface="Calibri"/>
              </a:rPr>
              <a:t>ROC-AUC, High vs Normal demand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XGBoost</c:v>
                </c:pt>
                <c:pt idx="1">
                  <c:v>LightGBM</c:v>
                </c:pt>
                <c:pt idx="2">
                  <c:v>Random Forest</c:v>
                </c:pt>
                <c:pt idx="3">
                  <c:v>Decision Tree</c:v>
                </c:pt>
                <c:pt idx="4">
                  <c:v>SVM</c:v>
                </c:pt>
                <c:pt idx="5">
                  <c:v>KNN</c:v>
                </c:pt>
                <c:pt idx="6">
                  <c:v>Logistic Reg.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0.96199999999999997</c:v>
                </c:pt>
                <c:pt idx="1">
                  <c:v>0.96199999999999997</c:v>
                </c:pt>
                <c:pt idx="2">
                  <c:v>0.95899999999999996</c:v>
                </c:pt>
                <c:pt idx="3">
                  <c:v>0.95299999999999996</c:v>
                </c:pt>
                <c:pt idx="4">
                  <c:v>0.93700000000000006</c:v>
                </c:pt>
                <c:pt idx="5">
                  <c:v>0.91300000000000003</c:v>
                </c:pt>
                <c:pt idx="6">
                  <c:v>0.91100000000000003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6-4E2E-8A4E-305B27123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B7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B7A"/>
                </a:solidFill>
                <a:latin typeface="Calibri"/>
              </a:rPr>
              <a:t>RMSE on 74 test days (kWh per day, lower is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7-day Moving Avg</c:v>
                </c:pt>
                <c:pt idx="2">
                  <c:v>Prophet</c:v>
                </c:pt>
                <c:pt idx="3">
                  <c:v>SARIMA</c:v>
                </c:pt>
                <c:pt idx="4">
                  <c:v>SARIMAX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791</c:v>
                </c:pt>
                <c:pt idx="1">
                  <c:v>792</c:v>
                </c:pt>
                <c:pt idx="2">
                  <c:v>898</c:v>
                </c:pt>
                <c:pt idx="3">
                  <c:v>1015</c:v>
                </c:pt>
                <c:pt idx="4">
                  <c:v>2032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89-4B44-8134-F91EACDA7D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80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 and explain EV charging demand with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and LIME explain the best models, and the work is packaged as a Streamlit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1"/>
          <p:cNvSpPr/>
          <p:nvPr/>
        </p:nvSpPr>
        <p:spPr>
          <a:xfrm>
            <a:off x="6309360" y="548640"/>
            <a:ext cx="3291840" cy="3291840"/>
          </a:xfrm>
          <a:prstGeom prst="ellipse">
            <a:avLst/>
          </a:prstGeom>
          <a:solidFill>
            <a:srgbClr val="12A594">
              <a:alpha val="45000"/>
            </a:srgbClr>
          </a:solidFill>
          <a:ln w="12700">
            <a:solidFill>
              <a:srgbClr val="12A594">
                <a:alpha val="0"/>
              </a:srgbClr>
            </a:solidFill>
            <a:prstDash val="solid"/>
          </a:ln>
        </p:spPr>
      </p:sp>
      <p:sp>
        <p:nvSpPr>
          <p:cNvPr id="3" name="Deco 2"/>
          <p:cNvSpPr/>
          <p:nvPr/>
        </p:nvSpPr>
        <p:spPr>
          <a:xfrm>
            <a:off x="7223760" y="2377440"/>
            <a:ext cx="2560320" cy="2560320"/>
          </a:xfrm>
          <a:prstGeom prst="ellipse">
            <a:avLst/>
          </a:prstGeom>
          <a:solidFill>
            <a:srgbClr val="C6F135">
              <a:alpha val="25000"/>
            </a:srgbClr>
          </a:solidFill>
          <a:ln w="12700">
            <a:solidFill>
              <a:srgbClr val="C6F135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Charging Demand Prediction and Usage Pattern Analysis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classification and time series forecasting on 72,031 charging sessions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Priya V  |  Machine Learning &amp; Data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three models</a:t>
            </a:r>
            <a:endParaRPr lang="en-US" sz="3000" dirty="0"/>
          </a:p>
        </p:txBody>
      </p:sp>
      <p:sp>
        <p:nvSpPr>
          <p:cNvPr id="3" name="Card Regression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kWh will a session use?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R² 0.811</a:t>
            </a:r>
            <a:endParaRPr lang="en-US" sz="1400" dirty="0"/>
          </a:p>
        </p:txBody>
      </p:sp>
      <p:sp>
        <p:nvSpPr>
          <p:cNvPr id="9" name="Card Classification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session High or Normal demand?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ROC-AUC 0.962</a:t>
            </a:r>
            <a:endParaRPr lang="en-US" sz="1400" dirty="0"/>
          </a:p>
        </p:txBody>
      </p:sp>
      <p:sp>
        <p:nvSpPr>
          <p:cNvPr id="15" name="Card Time series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6" name="Num 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will the network use each day?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lags, WAPE 13.8%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 of charging sessions</a:t>
            </a:r>
            <a:endParaRPr lang="en-US" sz="3000" dirty="0"/>
          </a:p>
        </p:txBody>
      </p:sp>
      <p:sp>
        <p:nvSpPr>
          <p:cNvPr id="3" name="Stat 0"/>
          <p:cNvSpPr/>
          <p:nvPr/>
        </p:nvSpPr>
        <p:spPr>
          <a:xfrm>
            <a:off x="548640" y="132588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72,031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sessions</a:t>
            </a:r>
            <a:endParaRPr lang="en-US" sz="1200" dirty="0"/>
          </a:p>
        </p:txBody>
      </p:sp>
      <p:sp>
        <p:nvSpPr>
          <p:cNvPr id="6" name="Stat 1"/>
          <p:cNvSpPr/>
          <p:nvPr/>
        </p:nvSpPr>
        <p:spPr>
          <a:xfrm>
            <a:off x="2880360" y="132588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no missing values</a:t>
            </a:r>
            <a:endParaRPr lang="en-US" sz="1200" dirty="0"/>
          </a:p>
        </p:txBody>
      </p:sp>
      <p:sp>
        <p:nvSpPr>
          <p:cNvPr id="9" name="Stat 2"/>
          <p:cNvSpPr/>
          <p:nvPr/>
        </p:nvSpPr>
        <p:spPr>
          <a:xfrm>
            <a:off x="548640" y="28803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14.26 kWh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demand (High/Normal split)</a:t>
            </a:r>
            <a:endParaRPr lang="en-US" sz="1200" dirty="0"/>
          </a:p>
        </p:txBody>
      </p:sp>
      <p:sp>
        <p:nvSpPr>
          <p:cNvPr id="12" name="Stat 3"/>
          <p:cNvSpPr/>
          <p:nvPr/>
        </p:nvSpPr>
        <p:spPr>
          <a:xfrm>
            <a:off x="2880360" y="28803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30 Sep 2021 to 30 Sep 2022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variables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7373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Demand (kWh)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target: High Demand = Demand ≥ median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Charging: Duration, ChargerType, ChargerCompany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14 site types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StartDatetime / EndDatetime, hour, weekday,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information known about the session</a:t>
            </a:r>
            <a:endParaRPr lang="en-US" sz="3000" dirty="0"/>
          </a:p>
        </p:txBody>
      </p:sp>
      <p:sp>
        <p:nvSpPr>
          <p:cNvPr id="3" name="Feature Charging"/>
          <p:cNvSpPr/>
          <p:nvPr/>
        </p:nvSpPr>
        <p:spPr>
          <a:xfrm>
            <a:off x="5486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ChargerType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ChargerCompany</a:t>
            </a:r>
            <a:endParaRPr lang="en-US" sz="1400" dirty="0"/>
          </a:p>
        </p:txBody>
      </p:sp>
      <p:sp>
        <p:nvSpPr>
          <p:cNvPr id="6" name="Feature Location"/>
          <p:cNvSpPr/>
          <p:nvPr/>
        </p:nvSpPr>
        <p:spPr>
          <a:xfrm>
            <a:off x="32918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 encoded)</a:t>
            </a:r>
            <a:endParaRPr lang="en-US" sz="1400" dirty="0"/>
          </a:p>
        </p:txBody>
      </p:sp>
      <p:sp>
        <p:nvSpPr>
          <p:cNvPr id="9" name="Feature Time"/>
          <p:cNvSpPr/>
          <p:nvPr/>
        </p:nvSpPr>
        <p:spPr>
          <a:xfrm>
            <a:off x="60350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StartHour (sin/cos)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DayOfWeek, IsWeekend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overnight flag</a:t>
            </a:r>
            <a:endParaRPr lang="en-US" sz="1400" dirty="0"/>
          </a:p>
        </p:txBody>
      </p:sp>
      <p:sp>
        <p:nvSpPr>
          <p:cNvPr id="12" name="Excluded"/>
          <p:cNvSpPr/>
          <p:nvPr/>
        </p:nvSpPr>
        <p:spPr>
          <a:xfrm>
            <a:off x="548640" y="32461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Excluded on purpose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ChargerID: identifiers, not drivers of demand.   ElapsedMin, IdleMin, FlagIdleOver30, EndHour: only known after the session ends, so they would inflate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Regression: XGBoost explains 81% of demand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gression note"/>
          <p:cNvSpPr/>
          <p:nvPr/>
        </p:nvSpPr>
        <p:spPr>
          <a:xfrm>
            <a:off x="5852160" y="12801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807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5.85 kWh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of the best model, XGBoost (MAE 3.31).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beat linear regression by a wide margin, so demand is non-linear. Cross-validation R² of 0.80 matches the test score: no overfitting.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 90% accuracy, ROC-AUC 0.962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lassification note"/>
          <p:cNvSpPr/>
          <p:nvPr/>
        </p:nvSpPr>
        <p:spPr>
          <a:xfrm>
            <a:off x="5852160" y="12801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807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accuracy 0.900, precision 0.870, recall 0.941, F1 0.904.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tied. All four tree models score about 0.90 accuracy; KNN and logistic regression trail.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imbalance: when resampling matters</a:t>
            </a:r>
            <a:endParaRPr lang="en-US" sz="3000" dirty="0"/>
          </a:p>
        </p:txBody>
      </p:sp>
      <p:sp>
        <p:nvSpPr>
          <p:cNvPr id="3" name="Balanced target"/>
          <p:cNvSpPr/>
          <p:nvPr/>
        </p:nvSpPr>
        <p:spPr>
          <a:xfrm>
            <a:off x="548640" y="132588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target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36,013 Normal vs 36,018 High sessions. Already balanced, so resampling is not needed.</a:t>
            </a:r>
            <a:endParaRPr lang="en-US" sz="1400" dirty="0"/>
          </a:p>
        </p:txBody>
      </p:sp>
      <p:sp>
        <p:nvSpPr>
          <p:cNvPr id="7" name="Imbalanced target"/>
          <p:cNvSpPr/>
          <p:nvPr/>
        </p:nvSpPr>
        <p:spPr>
          <a:xfrm>
            <a:off x="4754880" y="132588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Top-10% target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37.61 kWh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6974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weights, Random Oversampling, SMOTE and ADASYN were tested inside the training pipeline only. They raise recall at the cost of precision, with little change in ROC-AUC.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and LIME: duration drives demand</a:t>
            </a:r>
            <a:endParaRPr lang="en-US" sz="3000" dirty="0"/>
          </a:p>
        </p:txBody>
      </p:sp>
      <p:sp>
        <p:nvSpPr>
          <p:cNvPr id="3" name="Card SHAP"/>
          <p:cNvSpPr/>
          <p:nvPr/>
        </p:nvSpPr>
        <p:spPr>
          <a:xfrm>
            <a:off x="548640" y="1325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importance, dependence plots for Duration and StartHour, and waterfall plots for the most confident High and Normal sessions.</a:t>
            </a:r>
            <a:endParaRPr lang="en-US" sz="1400" dirty="0"/>
          </a:p>
        </p:txBody>
      </p:sp>
      <p:sp>
        <p:nvSpPr>
          <p:cNvPr id="6" name="Card LIME"/>
          <p:cNvSpPr/>
          <p:nvPr/>
        </p:nvSpPr>
        <p:spPr>
          <a:xfrm>
            <a:off x="4663440" y="1325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 for one High-demand, one Normal-demand and one typical session (regression).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methods agree: session duration first, then charger type. Location and charger company matter less.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Forecasting: a simple average matches XGBoost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recast note"/>
          <p:cNvSpPr/>
          <p:nvPr/>
        </p:nvSpPr>
        <p:spPr>
          <a:xfrm>
            <a:off x="5852160" y="12801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807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 WAPE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lag features is typically within 14% of daily demand.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 is non-stationary (ADF p = 0.347). SARIMAX is worst: calendar regressors overfit 292 training days.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and applications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is the strongest predictor of demand.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type significantly affects energy use.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varies by location and charger company.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beat linear ones: demand is non-linear.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Accommodation, camping and bus garage sites charge the most.</a:t>
            </a:r>
            <a:endParaRPr lang="en-US" sz="1500" dirty="0"/>
          </a:p>
        </p:txBody>
      </p:sp>
      <p:sp>
        <p:nvSpPr>
          <p:cNvPr id="4" name="Applications"/>
          <p:cNvSpPr/>
          <p:nvPr/>
        </p:nvSpPr>
        <p:spPr>
          <a:xfrm>
            <a:off x="5486400" y="1280160"/>
            <a:ext cx="3108960" cy="3108960"/>
          </a:xfrm>
          <a:prstGeom prst="roundRect">
            <a:avLst>
              <a:gd name="adj" fmla="val 294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15000" y="19659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infrastructure planning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management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optimization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only known once a session ends, so these are not plug-in-time forecasts.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data: yearly seasonality cannot be validated.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train/test split; network total only.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373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for forecasts.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by location or charger.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than one year of data.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regularly to keep lags current.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PresentationFormat>On-screen Show (16:9)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Three questions, three models</vt:lpstr>
      <vt:lpstr>One year of charging sessions</vt:lpstr>
      <vt:lpstr>Only information known about the session</vt:lpstr>
      <vt:lpstr>Regression: XGBoost explains 81% of demand</vt:lpstr>
      <vt:lpstr>Classification: 90% accuracy, ROC-AUC 0.962</vt:lpstr>
      <vt:lpstr>Class imbalance: when resampling matters</vt:lpstr>
      <vt:lpstr>SHAP and LIME: duration drives demand</vt:lpstr>
      <vt:lpstr>Forecasting: a simple average matches XGBoost</vt:lpstr>
      <vt:lpstr>Key findings and applications</vt:lpstr>
      <vt:lpstr>Limitations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Demand Analysis</dc:title>
  <dc:subject>PptxGenJS Presentation</dc:subject>
  <dc:creator>Vidya Priya V</dc:creator>
  <cp:lastModifiedBy>vidya priya</cp:lastModifiedBy>
  <cp:revision>1</cp:revision>
  <dcterms:created xsi:type="dcterms:W3CDTF">2026-10-30T16:25:00Z</dcterms:created>
  <dcterms:modified xsi:type="dcterms:W3CDTF">2026-10-30T16:25:52Z</dcterms:modified>
</cp:coreProperties>
</file>